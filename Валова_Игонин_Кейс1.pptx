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1" r:id="rId13"/>
    <p:sldId id="300" r:id="rId14"/>
    <p:sldId id="268" r:id="rId15"/>
  </p:sldIdLst>
  <p:sldSz cx="8999538" cy="5040313"/>
  <p:notesSz cx="6858000" cy="9144000"/>
  <p:embeddedFontLst>
    <p:embeddedFont>
      <p:font typeface="Montserrat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90">
          <p15:clr>
            <a:srgbClr val="747775"/>
          </p15:clr>
        </p15:guide>
        <p15:guide id="2" pos="5375" userDrawn="1">
          <p15:clr>
            <a:srgbClr val="747775"/>
          </p15:clr>
        </p15:guide>
        <p15:guide id="3" orient="horz" pos="147">
          <p15:clr>
            <a:srgbClr val="747775"/>
          </p15:clr>
        </p15:guide>
        <p15:guide id="4" orient="horz" pos="2971" userDrawn="1">
          <p15:clr>
            <a:srgbClr val="747775"/>
          </p15:clr>
        </p15:guide>
        <p15:guide id="5" orient="horz" pos="534">
          <p15:clr>
            <a:srgbClr val="747775"/>
          </p15:clr>
        </p15:guide>
        <p15:guide id="6" orient="horz" pos="843">
          <p15:clr>
            <a:srgbClr val="747775"/>
          </p15:clr>
        </p15:guide>
        <p15:guide id="7" orient="horz" pos="1152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hJN4izuOUXdeT5Lxc5viQZAij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3094"/>
    <a:srgbClr val="3F3CCF"/>
    <a:srgbClr val="1744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31"/>
    <p:restoredTop sz="94712"/>
  </p:normalViewPr>
  <p:slideViewPr>
    <p:cSldViewPr snapToGrid="0">
      <p:cViewPr>
        <p:scale>
          <a:sx n="120" d="100"/>
          <a:sy n="120" d="100"/>
        </p:scale>
        <p:origin x="464" y="464"/>
      </p:cViewPr>
      <p:guideLst>
        <p:guide pos="290"/>
        <p:guide pos="5375"/>
        <p:guide orient="horz" pos="147"/>
        <p:guide orient="horz" pos="2971"/>
        <p:guide orient="horz" pos="534"/>
        <p:guide orient="horz" pos="843"/>
        <p:guide orient="horz" pos="11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67712" y="685800"/>
            <a:ext cx="6123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97affa375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3b97affa375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d0e7576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ad0e75760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1C9A86B6-C343-2EE1-3A81-FD454E3F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d0e75760e_0_0:notes">
            <a:extLst>
              <a:ext uri="{FF2B5EF4-FFF2-40B4-BE49-F238E27FC236}">
                <a16:creationId xmlns:a16="http://schemas.microsoft.com/office/drawing/2014/main" id="{7F32B5A4-ED03-8202-EC1E-E6BC661A84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ad0e75760e_0_0:notes">
            <a:extLst>
              <a:ext uri="{FF2B5EF4-FFF2-40B4-BE49-F238E27FC236}">
                <a16:creationId xmlns:a16="http://schemas.microsoft.com/office/drawing/2014/main" id="{BB2962D1-ADA7-A05E-4FD3-800836001A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6180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9270627F-74BB-110D-5705-8C8B7AAA6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d0e75760e_0_0:notes">
            <a:extLst>
              <a:ext uri="{FF2B5EF4-FFF2-40B4-BE49-F238E27FC236}">
                <a16:creationId xmlns:a16="http://schemas.microsoft.com/office/drawing/2014/main" id="{A12625F8-3A00-5BED-8F5D-8C37AC3B79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ad0e75760e_0_0:notes">
            <a:extLst>
              <a:ext uri="{FF2B5EF4-FFF2-40B4-BE49-F238E27FC236}">
                <a16:creationId xmlns:a16="http://schemas.microsoft.com/office/drawing/2014/main" id="{7CB112B7-494B-1905-C597-37581117A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0744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56736F3-B755-C16D-1B5B-A3F9EDC4F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d0e75760e_0_0:notes">
            <a:extLst>
              <a:ext uri="{FF2B5EF4-FFF2-40B4-BE49-F238E27FC236}">
                <a16:creationId xmlns:a16="http://schemas.microsoft.com/office/drawing/2014/main" id="{72FFD780-446C-33F8-2A2B-5012D79263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ad0e75760e_0_0:notes">
            <a:extLst>
              <a:ext uri="{FF2B5EF4-FFF2-40B4-BE49-F238E27FC236}">
                <a16:creationId xmlns:a16="http://schemas.microsoft.com/office/drawing/2014/main" id="{43081119-8E95-0310-6B96-95AB047F0D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9638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86A2BDD9-7D7E-2631-BFB6-0209851D5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d0e75760e_0_0:notes">
            <a:extLst>
              <a:ext uri="{FF2B5EF4-FFF2-40B4-BE49-F238E27FC236}">
                <a16:creationId xmlns:a16="http://schemas.microsoft.com/office/drawing/2014/main" id="{9D5F000C-A675-71C6-3909-1648373FFD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ad0e75760e_0_0:notes">
            <a:extLst>
              <a:ext uri="{FF2B5EF4-FFF2-40B4-BE49-F238E27FC236}">
                <a16:creationId xmlns:a16="http://schemas.microsoft.com/office/drawing/2014/main" id="{2A925BFD-BB63-9C6F-3355-6ECB5FEF2F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7832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18F2ABAA-BAA7-8CEC-3DC8-3AD877487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d0e75760e_0_0:notes">
            <a:extLst>
              <a:ext uri="{FF2B5EF4-FFF2-40B4-BE49-F238E27FC236}">
                <a16:creationId xmlns:a16="http://schemas.microsoft.com/office/drawing/2014/main" id="{CEC15D63-B216-68EA-8B5E-5B6014CBC1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ad0e75760e_0_0:notes">
            <a:extLst>
              <a:ext uri="{FF2B5EF4-FFF2-40B4-BE49-F238E27FC236}">
                <a16:creationId xmlns:a16="http://schemas.microsoft.com/office/drawing/2014/main" id="{E286A38B-D8B8-99F5-5C3C-F9750D22E1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513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92A5819-358A-41DC-265E-AA9D8E6F6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d0e75760e_0_0:notes">
            <a:extLst>
              <a:ext uri="{FF2B5EF4-FFF2-40B4-BE49-F238E27FC236}">
                <a16:creationId xmlns:a16="http://schemas.microsoft.com/office/drawing/2014/main" id="{66CF4836-EB4A-DD06-76EF-BEA82AF7FF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ad0e75760e_0_0:notes">
            <a:extLst>
              <a:ext uri="{FF2B5EF4-FFF2-40B4-BE49-F238E27FC236}">
                <a16:creationId xmlns:a16="http://schemas.microsoft.com/office/drawing/2014/main" id="{1EB251F7-EBCE-2AB1-6575-8B5C3E4DA4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7455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B86ADC9-9C8A-4FE1-7D2F-E1E6118A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d0e75760e_0_0:notes">
            <a:extLst>
              <a:ext uri="{FF2B5EF4-FFF2-40B4-BE49-F238E27FC236}">
                <a16:creationId xmlns:a16="http://schemas.microsoft.com/office/drawing/2014/main" id="{98817853-3E8A-D78D-7F38-F0C1CFF15B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ad0e75760e_0_0:notes">
            <a:extLst>
              <a:ext uri="{FF2B5EF4-FFF2-40B4-BE49-F238E27FC236}">
                <a16:creationId xmlns:a16="http://schemas.microsoft.com/office/drawing/2014/main" id="{0E74008A-5108-A0A9-D720-C21B61AD7D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0042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EFDED2D-2640-6655-801C-69388FC4E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d0e75760e_0_0:notes">
            <a:extLst>
              <a:ext uri="{FF2B5EF4-FFF2-40B4-BE49-F238E27FC236}">
                <a16:creationId xmlns:a16="http://schemas.microsoft.com/office/drawing/2014/main" id="{89CF7939-703A-CBFD-1BD2-36E2132EBA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ad0e75760e_0_0:notes">
            <a:extLst>
              <a:ext uri="{FF2B5EF4-FFF2-40B4-BE49-F238E27FC236}">
                <a16:creationId xmlns:a16="http://schemas.microsoft.com/office/drawing/2014/main" id="{3CE2A6F3-2082-35E5-C358-26F9685A16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1098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44937BF-9DCA-7FAA-772B-31F3E9A5D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d0e75760e_0_0:notes">
            <a:extLst>
              <a:ext uri="{FF2B5EF4-FFF2-40B4-BE49-F238E27FC236}">
                <a16:creationId xmlns:a16="http://schemas.microsoft.com/office/drawing/2014/main" id="{70589611-0B15-3250-D592-DCBE4F682B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ad0e75760e_0_0:notes">
            <a:extLst>
              <a:ext uri="{FF2B5EF4-FFF2-40B4-BE49-F238E27FC236}">
                <a16:creationId xmlns:a16="http://schemas.microsoft.com/office/drawing/2014/main" id="{AD7682E9-A0E6-98E6-CAF1-70DEEF8B04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505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6"/>
          <p:cNvSpPr txBox="1">
            <a:spLocks noGrp="1"/>
          </p:cNvSpPr>
          <p:nvPr>
            <p:ph type="ctrTitle"/>
          </p:nvPr>
        </p:nvSpPr>
        <p:spPr>
          <a:xfrm>
            <a:off x="306800" y="729592"/>
            <a:ext cx="8386500" cy="20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36"/>
          <p:cNvSpPr txBox="1">
            <a:spLocks noGrp="1"/>
          </p:cNvSpPr>
          <p:nvPr>
            <p:ph type="subTitle" idx="1"/>
          </p:nvPr>
        </p:nvSpPr>
        <p:spPr>
          <a:xfrm>
            <a:off x="306791" y="2777095"/>
            <a:ext cx="8386500" cy="7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36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7"/>
          <p:cNvSpPr txBox="1">
            <a:spLocks noGrp="1"/>
          </p:cNvSpPr>
          <p:nvPr>
            <p:ph type="title"/>
          </p:nvPr>
        </p:nvSpPr>
        <p:spPr>
          <a:xfrm>
            <a:off x="306791" y="2107570"/>
            <a:ext cx="8386500" cy="8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7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8"/>
          <p:cNvSpPr txBox="1">
            <a:spLocks noGrp="1"/>
          </p:cNvSpPr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8"/>
          <p:cNvSpPr txBox="1">
            <a:spLocks noGrp="1"/>
          </p:cNvSpPr>
          <p:nvPr>
            <p:ph type="body" idx="1"/>
          </p:nvPr>
        </p:nvSpPr>
        <p:spPr>
          <a:xfrm>
            <a:off x="306791" y="1129284"/>
            <a:ext cx="8386500" cy="3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38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9"/>
          <p:cNvSpPr txBox="1">
            <a:spLocks noGrp="1"/>
          </p:cNvSpPr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body" idx="1"/>
          </p:nvPr>
        </p:nvSpPr>
        <p:spPr>
          <a:xfrm>
            <a:off x="306791" y="1129284"/>
            <a:ext cx="3936900" cy="3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39"/>
          <p:cNvSpPr txBox="1">
            <a:spLocks noGrp="1"/>
          </p:cNvSpPr>
          <p:nvPr>
            <p:ph type="body" idx="2"/>
          </p:nvPr>
        </p:nvSpPr>
        <p:spPr>
          <a:xfrm>
            <a:off x="4756299" y="1129284"/>
            <a:ext cx="3936900" cy="3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39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0"/>
          <p:cNvSpPr txBox="1">
            <a:spLocks noGrp="1"/>
          </p:cNvSpPr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 txBox="1">
            <a:spLocks noGrp="1"/>
          </p:cNvSpPr>
          <p:nvPr>
            <p:ph type="title"/>
          </p:nvPr>
        </p:nvSpPr>
        <p:spPr>
          <a:xfrm>
            <a:off x="306791" y="544420"/>
            <a:ext cx="27639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41"/>
          <p:cNvSpPr txBox="1">
            <a:spLocks noGrp="1"/>
          </p:cNvSpPr>
          <p:nvPr>
            <p:ph type="body" idx="1"/>
          </p:nvPr>
        </p:nvSpPr>
        <p:spPr>
          <a:xfrm>
            <a:off x="306791" y="1361638"/>
            <a:ext cx="27639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2"/>
          <p:cNvSpPr txBox="1">
            <a:spLocks noGrp="1"/>
          </p:cNvSpPr>
          <p:nvPr>
            <p:ph type="title"/>
          </p:nvPr>
        </p:nvSpPr>
        <p:spPr>
          <a:xfrm>
            <a:off x="482530" y="441092"/>
            <a:ext cx="6267600" cy="4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42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3"/>
          <p:cNvSpPr/>
          <p:nvPr/>
        </p:nvSpPr>
        <p:spPr>
          <a:xfrm>
            <a:off x="4500000" y="-122"/>
            <a:ext cx="4500000" cy="50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3"/>
          <p:cNvSpPr txBox="1">
            <a:spLocks noGrp="1"/>
          </p:cNvSpPr>
          <p:nvPr>
            <p:ph type="title"/>
          </p:nvPr>
        </p:nvSpPr>
        <p:spPr>
          <a:xfrm>
            <a:off x="261319" y="1208360"/>
            <a:ext cx="3981600" cy="14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43"/>
          <p:cNvSpPr txBox="1">
            <a:spLocks noGrp="1"/>
          </p:cNvSpPr>
          <p:nvPr>
            <p:ph type="subTitle" idx="1"/>
          </p:nvPr>
        </p:nvSpPr>
        <p:spPr>
          <a:xfrm>
            <a:off x="261319" y="2746670"/>
            <a:ext cx="3981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43"/>
          <p:cNvSpPr txBox="1">
            <a:spLocks noGrp="1"/>
          </p:cNvSpPr>
          <p:nvPr>
            <p:ph type="body" idx="2"/>
          </p:nvPr>
        </p:nvSpPr>
        <p:spPr>
          <a:xfrm>
            <a:off x="4861713" y="709505"/>
            <a:ext cx="3776700" cy="3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43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4"/>
          <p:cNvSpPr txBox="1">
            <a:spLocks noGrp="1"/>
          </p:cNvSpPr>
          <p:nvPr>
            <p:ph type="body" idx="1"/>
          </p:nvPr>
        </p:nvSpPr>
        <p:spPr>
          <a:xfrm>
            <a:off x="306791" y="4145445"/>
            <a:ext cx="59043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 txBox="1">
            <a:spLocks noGrp="1"/>
          </p:cNvSpPr>
          <p:nvPr>
            <p:ph type="title" hasCustomPrompt="1"/>
          </p:nvPr>
        </p:nvSpPr>
        <p:spPr>
          <a:xfrm>
            <a:off x="306791" y="1083867"/>
            <a:ext cx="8386500" cy="19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45"/>
          <p:cNvSpPr txBox="1">
            <a:spLocks noGrp="1"/>
          </p:cNvSpPr>
          <p:nvPr>
            <p:ph type="body" idx="1"/>
          </p:nvPr>
        </p:nvSpPr>
        <p:spPr>
          <a:xfrm>
            <a:off x="306791" y="3088794"/>
            <a:ext cx="8386500" cy="12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6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306791" y="1129284"/>
            <a:ext cx="8386500" cy="3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geo2day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382323" y="3892513"/>
            <a:ext cx="7347300" cy="57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Выполнил</a:t>
            </a:r>
            <a:r>
              <a:rPr lang="ru-RU" sz="16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и</a:t>
            </a:r>
            <a:r>
              <a:rPr lang="ru" sz="16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: </a:t>
            </a:r>
            <a:r>
              <a:rPr lang="ru-RU" sz="16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Валова Екатерина, Игонин Андрей</a:t>
            </a:r>
            <a:endParaRPr sz="16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9623" y="156412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 txBox="1"/>
          <p:nvPr/>
        </p:nvSpPr>
        <p:spPr>
          <a:xfrm>
            <a:off x="315779" y="456933"/>
            <a:ext cx="8439338" cy="11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lnSpc>
                <a:spcPct val="115000"/>
              </a:lnSpc>
              <a:buSzPts val="5700"/>
            </a:pPr>
            <a:r>
              <a:rPr lang="ru-RU" sz="3200" b="1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Пространственное распределение региональных статистических данных</a:t>
            </a:r>
            <a:br>
              <a:rPr lang="ru-RU" sz="3200" b="1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</a:br>
            <a:r>
              <a:rPr lang="ru-RU" sz="3200" b="1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по территории субъекта РФ </a:t>
            </a:r>
            <a:br>
              <a:rPr lang="ru-RU" sz="3200" b="1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</a:br>
            <a:r>
              <a:rPr lang="ru-RU" sz="3200" b="1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на сетке 1×1 км</a:t>
            </a:r>
            <a:endParaRPr sz="3200" b="1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382323" y="3318457"/>
            <a:ext cx="7347300" cy="57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Проектный практикум 2026 г.</a:t>
            </a:r>
            <a:endParaRPr sz="24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 txBox="1"/>
          <p:nvPr/>
        </p:nvSpPr>
        <p:spPr>
          <a:xfrm>
            <a:off x="352269" y="235498"/>
            <a:ext cx="8295000" cy="7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123194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Проблема и актуальность</a:t>
            </a:r>
            <a:endParaRPr sz="2800" b="1" i="0" u="none" strike="noStrike" cap="none" dirty="0">
              <a:solidFill>
                <a:srgbClr val="123194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7" name="Google Shape;121;p10">
            <a:extLst>
              <a:ext uri="{FF2B5EF4-FFF2-40B4-BE49-F238E27FC236}">
                <a16:creationId xmlns:a16="http://schemas.microsoft.com/office/drawing/2014/main" id="{4812771B-6D51-46F3-9FA7-AF069D846D73}"/>
              </a:ext>
            </a:extLst>
          </p:cNvPr>
          <p:cNvSpPr txBox="1"/>
          <p:nvPr/>
        </p:nvSpPr>
        <p:spPr>
          <a:xfrm>
            <a:off x="352269" y="759692"/>
            <a:ext cx="8167800" cy="89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>
              <a:lnSpc>
                <a:spcPct val="115000"/>
              </a:lnSpc>
              <a:buClr>
                <a:schemeClr val="dk1"/>
              </a:buClr>
              <a:buSzPts val="1800"/>
            </a:pP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Региональная статистика – одно значение на весь субъект РФ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. 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Внутри региона – сильная территориальная неоднородность</a:t>
            </a:r>
            <a:r>
              <a:rPr lang="en-US" sz="18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.</a:t>
            </a:r>
            <a:endParaRPr lang="ru-RU" sz="1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01A759-C6A3-C8FF-7F94-FE8AB110101A}"/>
              </a:ext>
            </a:extLst>
          </p:cNvPr>
          <p:cNvSpPr txBox="1"/>
          <p:nvPr/>
        </p:nvSpPr>
        <p:spPr>
          <a:xfrm>
            <a:off x="916220" y="1488692"/>
            <a:ext cx="7039897" cy="2933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3">
              <a:lnSpc>
                <a:spcPct val="115000"/>
              </a:lnSpc>
              <a:buClr>
                <a:schemeClr val="dk1"/>
              </a:buClr>
              <a:buSzPts val="1800"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Проблемы простого усреднения:</a:t>
            </a:r>
          </a:p>
          <a:p>
            <a:pPr marL="400050" lvl="3" indent="-285750">
              <a:lnSpc>
                <a:spcPct val="115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Искажение реальной картины</a:t>
            </a:r>
          </a:p>
          <a:p>
            <a:pPr marL="400050" lvl="3" indent="-285750">
              <a:lnSpc>
                <a:spcPct val="115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Потеря пространственной структуры</a:t>
            </a:r>
          </a:p>
          <a:p>
            <a:pPr marL="400050" lvl="3" indent="-285750">
              <a:lnSpc>
                <a:spcPct val="115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Невозможность детализированного анализа</a:t>
            </a:r>
          </a:p>
          <a:p>
            <a:pPr marL="114300" lvl="1">
              <a:lnSpc>
                <a:spcPct val="115000"/>
              </a:lnSpc>
              <a:buClr>
                <a:schemeClr val="dk1"/>
              </a:buClr>
              <a:buSzPts val="1800"/>
            </a:pPr>
            <a:endParaRPr lang="ru-RU" sz="1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114300" lvl="0">
              <a:lnSpc>
                <a:spcPct val="115000"/>
              </a:lnSpc>
              <a:buClr>
                <a:schemeClr val="dk1"/>
              </a:buClr>
              <a:buSzPts val="1800"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Почему это важно:</a:t>
            </a:r>
          </a:p>
          <a:p>
            <a:pPr marL="400050" lvl="0" indent="-285750">
              <a:lnSpc>
                <a:spcPct val="115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Территориальное планирование</a:t>
            </a:r>
          </a:p>
          <a:p>
            <a:pPr marL="400050" lvl="0" indent="-285750">
              <a:lnSpc>
                <a:spcPct val="115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Целевое распределение ресурсов</a:t>
            </a:r>
          </a:p>
          <a:p>
            <a:pPr marL="400050" lvl="0" indent="-285750">
              <a:lnSpc>
                <a:spcPct val="115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Аналитика на уровне муниципалитетов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5172D-DBD4-E125-4D3C-809EF3FB8B0A}"/>
              </a:ext>
            </a:extLst>
          </p:cNvPr>
          <p:cNvSpPr txBox="1"/>
          <p:nvPr/>
        </p:nvSpPr>
        <p:spPr>
          <a:xfrm>
            <a:off x="8219768" y="4732536"/>
            <a:ext cx="779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g3b97affa375_0_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b97affa375_0_55"/>
          <p:cNvSpPr txBox="1"/>
          <p:nvPr/>
        </p:nvSpPr>
        <p:spPr>
          <a:xfrm>
            <a:off x="368550" y="246500"/>
            <a:ext cx="8247900" cy="7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dirty="0">
                <a:solidFill>
                  <a:srgbClr val="123194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Цель и задачи проекта</a:t>
            </a:r>
            <a:endParaRPr lang="ru-RU" sz="2800" b="1" i="0" u="none" strike="noStrike" cap="none" dirty="0">
              <a:solidFill>
                <a:srgbClr val="123194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5" name="Google Shape;121;p10">
            <a:extLst>
              <a:ext uri="{FF2B5EF4-FFF2-40B4-BE49-F238E27FC236}">
                <a16:creationId xmlns:a16="http://schemas.microsoft.com/office/drawing/2014/main" id="{37AC23B0-261D-4609-A57C-1972FDFBC807}"/>
              </a:ext>
            </a:extLst>
          </p:cNvPr>
          <p:cNvSpPr txBox="1"/>
          <p:nvPr/>
        </p:nvSpPr>
        <p:spPr>
          <a:xfrm>
            <a:off x="367293" y="1084870"/>
            <a:ext cx="8242360" cy="330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just">
              <a:lnSpc>
                <a:spcPct val="115000"/>
              </a:lnSpc>
              <a:buClr>
                <a:schemeClr val="dk1"/>
              </a:buClr>
              <a:buSzPts val="1800"/>
            </a:pPr>
            <a:r>
              <a:rPr lang="ru-RU" sz="1800" b="1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Цель проекта</a:t>
            </a:r>
          </a:p>
          <a:p>
            <a:pPr marL="114300" lvl="0" algn="just">
              <a:lnSpc>
                <a:spcPct val="115000"/>
              </a:lnSpc>
              <a:buClr>
                <a:schemeClr val="dk1"/>
              </a:buClr>
              <a:buSzPts val="1800"/>
            </a:pPr>
            <a:r>
              <a:rPr lang="ru-RU" sz="18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Предложить воспроизводимый способ разнесения агрегированных региональных показателей на сетку 1×1 км без простого усреднения</a:t>
            </a:r>
          </a:p>
          <a:p>
            <a:pPr marL="114300" lvl="0" algn="just">
              <a:lnSpc>
                <a:spcPct val="115000"/>
              </a:lnSpc>
              <a:buClr>
                <a:schemeClr val="dk1"/>
              </a:buClr>
              <a:buSzPts val="1800"/>
            </a:pPr>
            <a:endParaRPr lang="ru-RU" sz="1800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114300" lvl="0" algn="just">
              <a:lnSpc>
                <a:spcPct val="115000"/>
              </a:lnSpc>
              <a:buClr>
                <a:schemeClr val="dk1"/>
              </a:buClr>
              <a:buSzPts val="1800"/>
            </a:pPr>
            <a:r>
              <a:rPr lang="ru-RU" sz="1800" b="1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Основные задачи</a:t>
            </a:r>
          </a:p>
          <a:p>
            <a:pPr marL="400050" lvl="0" indent="-285750" algn="just">
              <a:lnSpc>
                <a:spcPct val="115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Создать регулярную сетку 1×1 км</a:t>
            </a:r>
          </a:p>
          <a:p>
            <a:pPr marL="400050" lvl="0" indent="-285750" algn="just">
              <a:lnSpc>
                <a:spcPct val="115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Использовать внешние пространственные признаки</a:t>
            </a:r>
          </a:p>
          <a:p>
            <a:pPr marL="400050" lvl="0" indent="-285750" algn="just">
              <a:lnSpc>
                <a:spcPct val="115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Разработать нетривиальный метод распределения</a:t>
            </a:r>
          </a:p>
          <a:p>
            <a:pPr marL="400050" lvl="0" indent="-285750" algn="just">
              <a:lnSpc>
                <a:spcPct val="115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Сравнить с </a:t>
            </a:r>
            <a:r>
              <a:rPr lang="en" sz="18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baseline (</a:t>
            </a:r>
            <a:r>
              <a:rPr lang="ru-RU" sz="18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равномерное распределение)</a:t>
            </a:r>
          </a:p>
          <a:p>
            <a:pPr marL="400050" lvl="0" indent="-285750" algn="just">
              <a:lnSpc>
                <a:spcPct val="115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Обеспечить воспроизводимость решения</a:t>
            </a:r>
            <a:endParaRPr lang="ru-RU" sz="1800" dirty="0">
              <a:solidFill>
                <a:schemeClr val="dk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37ABB5-538E-7DC4-19AD-8D1CC349157C}"/>
              </a:ext>
            </a:extLst>
          </p:cNvPr>
          <p:cNvSpPr txBox="1"/>
          <p:nvPr/>
        </p:nvSpPr>
        <p:spPr>
          <a:xfrm>
            <a:off x="8219768" y="4732536"/>
            <a:ext cx="779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68357-02BF-7FA7-57EE-016297E7F161}"/>
              </a:ext>
            </a:extLst>
          </p:cNvPr>
          <p:cNvSpPr txBox="1"/>
          <p:nvPr/>
        </p:nvSpPr>
        <p:spPr>
          <a:xfrm>
            <a:off x="4306186" y="2258546"/>
            <a:ext cx="46851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600" b="1" i="1" dirty="0">
                <a:solidFill>
                  <a:srgbClr val="1130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Можно ли обучить модель на уровне регионов и применить для детализации на сетку 1×1 км?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d0e75760e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d0e75760e_0_0"/>
          <p:cNvSpPr txBox="1"/>
          <p:nvPr/>
        </p:nvSpPr>
        <p:spPr>
          <a:xfrm>
            <a:off x="368550" y="246500"/>
            <a:ext cx="8247900" cy="7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123194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Методология решения</a:t>
            </a:r>
            <a:endParaRPr sz="2800" b="1" i="0" u="none" strike="noStrike" cap="none" dirty="0">
              <a:solidFill>
                <a:srgbClr val="123194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9B236-F420-843F-D21F-C76778894265}"/>
              </a:ext>
            </a:extLst>
          </p:cNvPr>
          <p:cNvSpPr txBox="1"/>
          <p:nvPr/>
        </p:nvSpPr>
        <p:spPr>
          <a:xfrm>
            <a:off x="363011" y="797384"/>
            <a:ext cx="824789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Исходные данные: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 (геопространственные объекты)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https://geo2day.com/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Выгрузка слоев и границ для каждого субъекта РФ.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Региональная статистика заказчика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разных категорий (в работе использовали 2025 г)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Частотный анализ объектов OSM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Пространственное сглаживание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Регрессионная модель (машинное обучение)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Равномерное распределение (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EEAD2F-04E8-B4F3-7F30-DA0534FFF638}"/>
              </a:ext>
            </a:extLst>
          </p:cNvPr>
          <p:cNvSpPr txBox="1"/>
          <p:nvPr/>
        </p:nvSpPr>
        <p:spPr>
          <a:xfrm>
            <a:off x="5220586" y="3168502"/>
            <a:ext cx="3778951" cy="1532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Геопространственный анализ: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Сетка 1×1 км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Агрегация объектов по ячейкам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Взвешенное распределение</a:t>
            </a:r>
          </a:p>
        </p:txBody>
      </p:sp>
      <p:pic>
        <p:nvPicPr>
          <p:cNvPr id="1026" name="Picture 2" descr="Research srip Blue icon | Freepik">
            <a:extLst>
              <a:ext uri="{FF2B5EF4-FFF2-40B4-BE49-F238E27FC236}">
                <a16:creationId xmlns:a16="http://schemas.microsoft.com/office/drawing/2014/main" id="{6C96AFDC-AEB5-92FA-7F14-1FA4A00CA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856" y="1616387"/>
            <a:ext cx="1802380" cy="18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7AB9CD-B8F1-4566-4012-2F3A2598D74B}"/>
              </a:ext>
            </a:extLst>
          </p:cNvPr>
          <p:cNvSpPr txBox="1"/>
          <p:nvPr/>
        </p:nvSpPr>
        <p:spPr>
          <a:xfrm>
            <a:off x="8219768" y="4732536"/>
            <a:ext cx="779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D254A077-DE55-092E-0917-F5BCF7403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d0e75760e_0_0">
            <a:extLst>
              <a:ext uri="{FF2B5EF4-FFF2-40B4-BE49-F238E27FC236}">
                <a16:creationId xmlns:a16="http://schemas.microsoft.com/office/drawing/2014/main" id="{EE85EE00-7204-A183-421C-4BA1182FA5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d0e75760e_0_0">
            <a:extLst>
              <a:ext uri="{FF2B5EF4-FFF2-40B4-BE49-F238E27FC236}">
                <a16:creationId xmlns:a16="http://schemas.microsoft.com/office/drawing/2014/main" id="{F4401ADF-A7B7-F24F-DEF7-3A36AC49005B}"/>
              </a:ext>
            </a:extLst>
          </p:cNvPr>
          <p:cNvSpPr txBox="1"/>
          <p:nvPr/>
        </p:nvSpPr>
        <p:spPr>
          <a:xfrm>
            <a:off x="368550" y="246500"/>
            <a:ext cx="8247900" cy="7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123194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Детали реализации. Частотный анализ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D3669-56A8-9200-BAE6-CC7AABB11FE8}"/>
              </a:ext>
            </a:extLst>
          </p:cNvPr>
          <p:cNvSpPr txBox="1"/>
          <p:nvPr/>
        </p:nvSpPr>
        <p:spPr>
          <a:xfrm>
            <a:off x="363011" y="797384"/>
            <a:ext cx="82478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Логика метода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Редкие объекты = высокая значимость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Частые объекты = низкая значимость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FDFC8-4E33-0AC1-E4CA-EB8067313FE4}"/>
              </a:ext>
            </a:extLst>
          </p:cNvPr>
          <p:cNvSpPr txBox="1"/>
          <p:nvPr/>
        </p:nvSpPr>
        <p:spPr>
          <a:xfrm>
            <a:off x="8219768" y="4732536"/>
            <a:ext cx="779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C2E28-9D17-39F1-379E-68DF9BCD7703}"/>
              </a:ext>
            </a:extLst>
          </p:cNvPr>
          <p:cNvSpPr txBox="1"/>
          <p:nvPr/>
        </p:nvSpPr>
        <p:spPr>
          <a:xfrm>
            <a:off x="405965" y="2009988"/>
            <a:ext cx="8204945" cy="830997"/>
          </a:xfrm>
          <a:prstGeom prst="rect">
            <a:avLst/>
          </a:prstGeom>
          <a:solidFill>
            <a:srgbClr val="113094"/>
          </a:solidFill>
          <a:ln>
            <a:solidFill>
              <a:srgbClr val="3F3CC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24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вес_типа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1 / (частота + 0.01) </a:t>
            </a:r>
          </a:p>
          <a:p>
            <a:pPr algn="ctr"/>
            <a:r>
              <a:rPr lang="ru-RU" sz="24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вес_ячейки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Σ(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вес_типа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log(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+ 1))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E8CE01-A060-D827-5EF2-D64956D0B7A5}"/>
              </a:ext>
            </a:extLst>
          </p:cNvPr>
          <p:cNvSpPr txBox="1"/>
          <p:nvPr/>
        </p:nvSpPr>
        <p:spPr>
          <a:xfrm>
            <a:off x="4113276" y="3037926"/>
            <a:ext cx="4503174" cy="1399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75"/>
              </a:lnSpc>
              <a:buNone/>
            </a:pPr>
            <a:r>
              <a:rPr lang="ru-RU" sz="16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r>
              <a:rPr lang="ru-RU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ы</a:t>
            </a:r>
            <a:endParaRPr lang="ru-RU" sz="1600" b="0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ts val="1875"/>
              </a:lnSpc>
              <a:spcBef>
                <a:spcPts val="900"/>
              </a:spcBef>
            </a:pPr>
            <a:r>
              <a:rPr lang="ru-RU" sz="16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Церкви, больницы → высокий вес</a:t>
            </a:r>
          </a:p>
          <a:p>
            <a:pPr algn="r">
              <a:lnSpc>
                <a:spcPts val="1875"/>
              </a:lnSpc>
              <a:spcBef>
                <a:spcPts val="900"/>
              </a:spcBef>
            </a:pPr>
            <a:r>
              <a:rPr lang="ru-RU" sz="16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Жилые дома → средний вес</a:t>
            </a:r>
          </a:p>
          <a:p>
            <a:pPr algn="r">
              <a:lnSpc>
                <a:spcPts val="1875"/>
              </a:lnSpc>
              <a:spcBef>
                <a:spcPts val="900"/>
              </a:spcBef>
            </a:pPr>
            <a:r>
              <a:rPr lang="ru-RU" sz="16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Дороги → низкий вес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75A6AF-F894-37CE-BBEA-CC84D7CAD22D}"/>
              </a:ext>
            </a:extLst>
          </p:cNvPr>
          <p:cNvSpPr txBox="1"/>
          <p:nvPr/>
        </p:nvSpPr>
        <p:spPr>
          <a:xfrm>
            <a:off x="1469221" y="4437605"/>
            <a:ext cx="4782723" cy="635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15000"/>
              </a:lnSpc>
              <a:buSzPts val="1600"/>
              <a:buNone/>
              <a:defRPr sz="160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defRPr>
            </a:lvl1pPr>
          </a:lstStyle>
          <a:p>
            <a:r>
              <a:rPr lang="ru-RU" dirty="0" err="1">
                <a:solidFill>
                  <a:srgbClr val="113094"/>
                </a:solidFill>
              </a:rPr>
              <a:t>https</a:t>
            </a:r>
            <a:r>
              <a:rPr lang="ru-RU" dirty="0">
                <a:solidFill>
                  <a:srgbClr val="113094"/>
                </a:solidFill>
              </a:rPr>
              <a:t>://</a:t>
            </a:r>
            <a:r>
              <a:rPr lang="ru-RU" dirty="0" err="1">
                <a:solidFill>
                  <a:srgbClr val="113094"/>
                </a:solidFill>
              </a:rPr>
              <a:t>github.com</a:t>
            </a:r>
            <a:r>
              <a:rPr lang="ru-RU" dirty="0">
                <a:solidFill>
                  <a:srgbClr val="113094"/>
                </a:solidFill>
              </a:rPr>
              <a:t>/</a:t>
            </a:r>
            <a:r>
              <a:rPr lang="ru-RU" dirty="0" err="1">
                <a:solidFill>
                  <a:srgbClr val="113094"/>
                </a:solidFill>
              </a:rPr>
              <a:t>katePPkate</a:t>
            </a:r>
            <a:r>
              <a:rPr lang="ru-RU" dirty="0">
                <a:solidFill>
                  <a:srgbClr val="113094"/>
                </a:solidFill>
              </a:rPr>
              <a:t>/Project_Practicum_2026</a:t>
            </a:r>
          </a:p>
        </p:txBody>
      </p:sp>
    </p:spTree>
    <p:extLst>
      <p:ext uri="{BB962C8B-B14F-4D97-AF65-F5344CB8AC3E}">
        <p14:creationId xmlns:p14="http://schemas.microsoft.com/office/powerpoint/2010/main" val="831214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9F00CF3C-7363-34A8-24A4-848C3442C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d0e75760e_0_0">
            <a:extLst>
              <a:ext uri="{FF2B5EF4-FFF2-40B4-BE49-F238E27FC236}">
                <a16:creationId xmlns:a16="http://schemas.microsoft.com/office/drawing/2014/main" id="{AB7CE823-788B-9A1A-9E2E-86A42F466D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d0e75760e_0_0">
            <a:extLst>
              <a:ext uri="{FF2B5EF4-FFF2-40B4-BE49-F238E27FC236}">
                <a16:creationId xmlns:a16="http://schemas.microsoft.com/office/drawing/2014/main" id="{C16FA9A1-1DC0-290D-8892-D5270C43FC21}"/>
              </a:ext>
            </a:extLst>
          </p:cNvPr>
          <p:cNvSpPr txBox="1"/>
          <p:nvPr/>
        </p:nvSpPr>
        <p:spPr>
          <a:xfrm>
            <a:off x="368550" y="246500"/>
            <a:ext cx="8247900" cy="7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123194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Детали реализации. Регрессионная модель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2AE8B6-CBFC-8222-B31B-BC1099D0621B}"/>
              </a:ext>
            </a:extLst>
          </p:cNvPr>
          <p:cNvSpPr txBox="1"/>
          <p:nvPr/>
        </p:nvSpPr>
        <p:spPr>
          <a:xfrm>
            <a:off x="361754" y="986600"/>
            <a:ext cx="82478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модели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 регионов РФ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признаков (типы объектов 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Целевой показатель: количество пенсионеров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= 0.987</a:t>
            </a:r>
          </a:p>
          <a:p>
            <a:endParaRPr lang="e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Объективные веса на основе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коэффициенты положительные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Усиленная дифференциация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15817F-CE24-A2E7-936C-70B670E31F84}"/>
              </a:ext>
            </a:extLst>
          </p:cNvPr>
          <p:cNvSpPr txBox="1"/>
          <p:nvPr/>
        </p:nvSpPr>
        <p:spPr>
          <a:xfrm>
            <a:off x="8219768" y="4732536"/>
            <a:ext cx="779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98A34-9CA2-6278-D5D0-DF667553508C}"/>
              </a:ext>
            </a:extLst>
          </p:cNvPr>
          <p:cNvSpPr txBox="1"/>
          <p:nvPr/>
        </p:nvSpPr>
        <p:spPr>
          <a:xfrm>
            <a:off x="1236537" y="3846748"/>
            <a:ext cx="7551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endParaRPr lang="en-US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Взвешенное распределение на основе статистических закономерностей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CB86229-7B7D-28DC-73C2-3B47EA45C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496" y="1403835"/>
            <a:ext cx="3376100" cy="2027852"/>
          </a:xfrm>
          <a:prstGeom prst="rect">
            <a:avLst/>
          </a:prstGeom>
          <a:ln>
            <a:solidFill>
              <a:srgbClr val="113094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4C9511-7DAF-8B68-612F-36BED247AC55}"/>
              </a:ext>
            </a:extLst>
          </p:cNvPr>
          <p:cNvSpPr txBox="1"/>
          <p:nvPr/>
        </p:nvSpPr>
        <p:spPr>
          <a:xfrm>
            <a:off x="5865653" y="995101"/>
            <a:ext cx="2938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113094"/>
              </a:buClr>
              <a:buFont typeface="Wingdings" pitchFamily="2" charset="2"/>
              <a:buChar char="ü"/>
            </a:pPr>
            <a:r>
              <a:rPr lang="ru-RU" sz="1600" dirty="0">
                <a:solidFill>
                  <a:srgbClr val="1130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Интерпретируемость </a:t>
            </a:r>
          </a:p>
        </p:txBody>
      </p:sp>
    </p:spTree>
    <p:extLst>
      <p:ext uri="{BB962C8B-B14F-4D97-AF65-F5344CB8AC3E}">
        <p14:creationId xmlns:p14="http://schemas.microsoft.com/office/powerpoint/2010/main" val="217257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44061201-A452-91D8-58F2-FF977C41E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BAD734C-9A36-B512-900A-EAF3C61E79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913" r="49971"/>
          <a:stretch/>
        </p:blipFill>
        <p:spPr>
          <a:xfrm>
            <a:off x="3438877" y="989302"/>
            <a:ext cx="3692931" cy="3263887"/>
          </a:xfrm>
          <a:prstGeom prst="rect">
            <a:avLst/>
          </a:prstGeom>
        </p:spPr>
      </p:pic>
      <p:pic>
        <p:nvPicPr>
          <p:cNvPr id="88" name="Google Shape;88;g3ad0e75760e_0_0">
            <a:extLst>
              <a:ext uri="{FF2B5EF4-FFF2-40B4-BE49-F238E27FC236}">
                <a16:creationId xmlns:a16="http://schemas.microsoft.com/office/drawing/2014/main" id="{8E52EE9B-602D-4A8B-BED9-99E209A1501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d0e75760e_0_0">
            <a:extLst>
              <a:ext uri="{FF2B5EF4-FFF2-40B4-BE49-F238E27FC236}">
                <a16:creationId xmlns:a16="http://schemas.microsoft.com/office/drawing/2014/main" id="{88223B64-CB3B-BC5E-DCE7-690376D250C3}"/>
              </a:ext>
            </a:extLst>
          </p:cNvPr>
          <p:cNvSpPr txBox="1"/>
          <p:nvPr/>
        </p:nvSpPr>
        <p:spPr>
          <a:xfrm>
            <a:off x="368550" y="246500"/>
            <a:ext cx="8247900" cy="7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123194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Сравнение методов. Визуализация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77F9A2-E093-6C51-1FDC-E917FD0337A3}"/>
              </a:ext>
            </a:extLst>
          </p:cNvPr>
          <p:cNvSpPr txBox="1"/>
          <p:nvPr/>
        </p:nvSpPr>
        <p:spPr>
          <a:xfrm>
            <a:off x="8219768" y="4732536"/>
            <a:ext cx="779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C69E36C-08A1-BB72-16EA-5023CB6F27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704"/>
          <a:stretch/>
        </p:blipFill>
        <p:spPr>
          <a:xfrm>
            <a:off x="7117271" y="787124"/>
            <a:ext cx="1867730" cy="348711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FAD548-1F8B-78B6-B955-EF587720F5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253" b="53023"/>
          <a:stretch/>
        </p:blipFill>
        <p:spPr>
          <a:xfrm>
            <a:off x="-1" y="981196"/>
            <a:ext cx="3692932" cy="32746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2109AE-66B1-FE2C-8E88-D4E4F184D7E9}"/>
              </a:ext>
            </a:extLst>
          </p:cNvPr>
          <p:cNvSpPr txBox="1"/>
          <p:nvPr/>
        </p:nvSpPr>
        <p:spPr>
          <a:xfrm>
            <a:off x="665815" y="782035"/>
            <a:ext cx="1867730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Частотный анализ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F2D94D-EDF5-EB5A-97AD-D87CF8EA075E}"/>
              </a:ext>
            </a:extLst>
          </p:cNvPr>
          <p:cNvSpPr txBox="1"/>
          <p:nvPr/>
        </p:nvSpPr>
        <p:spPr>
          <a:xfrm>
            <a:off x="4104693" y="782034"/>
            <a:ext cx="1867730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регрессия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6F3FCD-7307-962D-3111-5A8B033FE8D8}"/>
              </a:ext>
            </a:extLst>
          </p:cNvPr>
          <p:cNvSpPr txBox="1"/>
          <p:nvPr/>
        </p:nvSpPr>
        <p:spPr>
          <a:xfrm>
            <a:off x="7045985" y="385717"/>
            <a:ext cx="186773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Частотный анализ + влияние соседей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A9658C-C538-D4BD-337F-AB60F0E3BAE0}"/>
              </a:ext>
            </a:extLst>
          </p:cNvPr>
          <p:cNvSpPr txBox="1"/>
          <p:nvPr/>
        </p:nvSpPr>
        <p:spPr>
          <a:xfrm>
            <a:off x="7124540" y="4192931"/>
            <a:ext cx="1867730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Усреднение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ru-RU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38F3E-7173-6418-C379-80B3121446DA}"/>
              </a:ext>
            </a:extLst>
          </p:cNvPr>
          <p:cNvSpPr txBox="1"/>
          <p:nvPr/>
        </p:nvSpPr>
        <p:spPr>
          <a:xfrm>
            <a:off x="1926556" y="4455052"/>
            <a:ext cx="4771955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1130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Самарская область</a:t>
            </a:r>
          </a:p>
        </p:txBody>
      </p:sp>
    </p:spTree>
    <p:extLst>
      <p:ext uri="{BB962C8B-B14F-4D97-AF65-F5344CB8AC3E}">
        <p14:creationId xmlns:p14="http://schemas.microsoft.com/office/powerpoint/2010/main" val="525163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EB57D63-8EE6-7684-E1F6-82E37D370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1E82B95-CB7D-97F3-18EA-384A846855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121" r="50183"/>
          <a:stretch/>
        </p:blipFill>
        <p:spPr>
          <a:xfrm>
            <a:off x="3484860" y="893505"/>
            <a:ext cx="3785798" cy="324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BDFFC1-283F-1977-8503-67F9875D8D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183" b="50121"/>
          <a:stretch/>
        </p:blipFill>
        <p:spPr>
          <a:xfrm>
            <a:off x="0" y="1229930"/>
            <a:ext cx="3785797" cy="3240000"/>
          </a:xfrm>
          <a:prstGeom prst="rect">
            <a:avLst/>
          </a:prstGeom>
        </p:spPr>
      </p:pic>
      <p:pic>
        <p:nvPicPr>
          <p:cNvPr id="88" name="Google Shape;88;g3ad0e75760e_0_0">
            <a:extLst>
              <a:ext uri="{FF2B5EF4-FFF2-40B4-BE49-F238E27FC236}">
                <a16:creationId xmlns:a16="http://schemas.microsoft.com/office/drawing/2014/main" id="{2BC5BBA5-DCEF-5D0A-D284-6F44FCC096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761FD9C-9DAB-504A-109B-E4FF72FF0A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879"/>
          <a:stretch/>
        </p:blipFill>
        <p:spPr>
          <a:xfrm>
            <a:off x="6719778" y="562304"/>
            <a:ext cx="2261860" cy="3781859"/>
          </a:xfrm>
          <a:prstGeom prst="rect">
            <a:avLst/>
          </a:prstGeom>
        </p:spPr>
      </p:pic>
      <p:sp>
        <p:nvSpPr>
          <p:cNvPr id="89" name="Google Shape;89;g3ad0e75760e_0_0">
            <a:extLst>
              <a:ext uri="{FF2B5EF4-FFF2-40B4-BE49-F238E27FC236}">
                <a16:creationId xmlns:a16="http://schemas.microsoft.com/office/drawing/2014/main" id="{3F14A99C-5870-A678-43DC-074F6FA0A3D2}"/>
              </a:ext>
            </a:extLst>
          </p:cNvPr>
          <p:cNvSpPr txBox="1"/>
          <p:nvPr/>
        </p:nvSpPr>
        <p:spPr>
          <a:xfrm>
            <a:off x="368550" y="246500"/>
            <a:ext cx="8247900" cy="7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123194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Сравнение методов. Визуализация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B84E74-F6B4-F95E-E785-12B5596ECA3A}"/>
              </a:ext>
            </a:extLst>
          </p:cNvPr>
          <p:cNvSpPr txBox="1"/>
          <p:nvPr/>
        </p:nvSpPr>
        <p:spPr>
          <a:xfrm>
            <a:off x="8219768" y="4732536"/>
            <a:ext cx="779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6E9799-1DB4-E8F1-C5D3-F5054BF34A62}"/>
              </a:ext>
            </a:extLst>
          </p:cNvPr>
          <p:cNvSpPr txBox="1"/>
          <p:nvPr/>
        </p:nvSpPr>
        <p:spPr>
          <a:xfrm>
            <a:off x="665815" y="782035"/>
            <a:ext cx="1867730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Частотный анализ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FB6719-1384-3CD9-4B72-E8BD2DB9460A}"/>
              </a:ext>
            </a:extLst>
          </p:cNvPr>
          <p:cNvSpPr txBox="1"/>
          <p:nvPr/>
        </p:nvSpPr>
        <p:spPr>
          <a:xfrm>
            <a:off x="4104693" y="782034"/>
            <a:ext cx="1867730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регрессия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540F3B-412C-2C59-88A0-5F3142EB989B}"/>
              </a:ext>
            </a:extLst>
          </p:cNvPr>
          <p:cNvSpPr txBox="1"/>
          <p:nvPr/>
        </p:nvSpPr>
        <p:spPr>
          <a:xfrm>
            <a:off x="7045985" y="385717"/>
            <a:ext cx="186773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Частотный анализ + влияние соседей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A3D0D0-25DF-BF15-B161-4EF951FF2F31}"/>
              </a:ext>
            </a:extLst>
          </p:cNvPr>
          <p:cNvSpPr txBox="1"/>
          <p:nvPr/>
        </p:nvSpPr>
        <p:spPr>
          <a:xfrm>
            <a:off x="7124540" y="4192931"/>
            <a:ext cx="1867730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Усреднение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ru-RU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19D167-90FD-EA8B-C70C-FB50463476D8}"/>
              </a:ext>
            </a:extLst>
          </p:cNvPr>
          <p:cNvSpPr txBox="1"/>
          <p:nvPr/>
        </p:nvSpPr>
        <p:spPr>
          <a:xfrm>
            <a:off x="1926556" y="4455052"/>
            <a:ext cx="4771955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1130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Еврейская автономная область</a:t>
            </a:r>
          </a:p>
        </p:txBody>
      </p:sp>
    </p:spTree>
    <p:extLst>
      <p:ext uri="{BB962C8B-B14F-4D97-AF65-F5344CB8AC3E}">
        <p14:creationId xmlns:p14="http://schemas.microsoft.com/office/powerpoint/2010/main" val="1256220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B1DE2558-19E4-1E61-2B70-FE6F79DAF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d0e75760e_0_0">
            <a:extLst>
              <a:ext uri="{FF2B5EF4-FFF2-40B4-BE49-F238E27FC236}">
                <a16:creationId xmlns:a16="http://schemas.microsoft.com/office/drawing/2014/main" id="{80C756AC-8D3A-608F-A793-2E26426B91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d0e75760e_0_0">
            <a:extLst>
              <a:ext uri="{FF2B5EF4-FFF2-40B4-BE49-F238E27FC236}">
                <a16:creationId xmlns:a16="http://schemas.microsoft.com/office/drawing/2014/main" id="{52C9E685-F8C7-9356-F14B-538FFD01ACB6}"/>
              </a:ext>
            </a:extLst>
          </p:cNvPr>
          <p:cNvSpPr txBox="1"/>
          <p:nvPr/>
        </p:nvSpPr>
        <p:spPr>
          <a:xfrm>
            <a:off x="368550" y="246500"/>
            <a:ext cx="8247900" cy="7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123194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Результаты и метрики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AEBBF-D5D7-3319-1D86-E6F41324C08B}"/>
              </a:ext>
            </a:extLst>
          </p:cNvPr>
          <p:cNvSpPr txBox="1"/>
          <p:nvPr/>
        </p:nvSpPr>
        <p:spPr>
          <a:xfrm>
            <a:off x="8219768" y="4732536"/>
            <a:ext cx="779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055FE6C-FA11-88DB-5CF5-BB862A220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867532"/>
              </p:ext>
            </p:extLst>
          </p:nvPr>
        </p:nvGraphicFramePr>
        <p:xfrm>
          <a:off x="383088" y="986600"/>
          <a:ext cx="4103852" cy="19818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69265">
                  <a:extLst>
                    <a:ext uri="{9D8B030D-6E8A-4147-A177-3AD203B41FA5}">
                      <a16:colId xmlns:a16="http://schemas.microsoft.com/office/drawing/2014/main" val="2887687014"/>
                    </a:ext>
                  </a:extLst>
                </a:gridCol>
                <a:gridCol w="1456661">
                  <a:extLst>
                    <a:ext uri="{9D8B030D-6E8A-4147-A177-3AD203B41FA5}">
                      <a16:colId xmlns:a16="http://schemas.microsoft.com/office/drawing/2014/main" val="700869403"/>
                    </a:ext>
                  </a:extLst>
                </a:gridCol>
                <a:gridCol w="1477926">
                  <a:extLst>
                    <a:ext uri="{9D8B030D-6E8A-4147-A177-3AD203B41FA5}">
                      <a16:colId xmlns:a16="http://schemas.microsoft.com/office/drawing/2014/main" val="1708148829"/>
                    </a:ext>
                  </a:extLst>
                </a:gridCol>
              </a:tblGrid>
              <a:tr h="2849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70" marR="85470" marT="42735" marB="42735" anchor="ctr">
                    <a:solidFill>
                      <a:srgbClr val="1130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Стандартное отклонение</a:t>
                      </a:r>
                    </a:p>
                  </a:txBody>
                  <a:tcPr marL="85470" marR="85470" marT="42735" marB="42735" anchor="ctr">
                    <a:solidFill>
                      <a:srgbClr val="1130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Коэффициент вариации</a:t>
                      </a:r>
                    </a:p>
                  </a:txBody>
                  <a:tcPr marL="85470" marR="85470" marT="42735" marB="42735" anchor="ctr">
                    <a:solidFill>
                      <a:srgbClr val="1130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778118"/>
                  </a:ext>
                </a:extLst>
              </a:tr>
              <a:tr h="26353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Равномерное</a:t>
                      </a:r>
                    </a:p>
                  </a:txBody>
                  <a:tcPr marL="85470" marR="85470" marT="42735" marB="4273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0.000000</a:t>
                      </a:r>
                    </a:p>
                  </a:txBody>
                  <a:tcPr marL="85470" marR="85470" marT="42735" marB="4273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</a:p>
                  </a:txBody>
                  <a:tcPr marL="85470" marR="85470" marT="42735" marB="42735" anchor="ctr"/>
                </a:tc>
                <a:extLst>
                  <a:ext uri="{0D108BD9-81ED-4DB2-BD59-A6C34878D82A}">
                    <a16:rowId xmlns:a16="http://schemas.microsoft.com/office/drawing/2014/main" val="850198438"/>
                  </a:ext>
                </a:extLst>
              </a:tr>
              <a:tr h="26353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Частотный анализ</a:t>
                      </a:r>
                    </a:p>
                  </a:txBody>
                  <a:tcPr marL="85470" marR="85470" marT="42735" marB="4273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0.000021</a:t>
                      </a:r>
                    </a:p>
                  </a:txBody>
                  <a:tcPr marL="85470" marR="85470" marT="42735" marB="4273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1.2000</a:t>
                      </a:r>
                    </a:p>
                  </a:txBody>
                  <a:tcPr marL="85470" marR="85470" marT="42735" marB="42735" anchor="ctr"/>
                </a:tc>
                <a:extLst>
                  <a:ext uri="{0D108BD9-81ED-4DB2-BD59-A6C34878D82A}">
                    <a16:rowId xmlns:a16="http://schemas.microsoft.com/office/drawing/2014/main" val="4063868321"/>
                  </a:ext>
                </a:extLst>
              </a:tr>
              <a:tr h="26353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Соседи</a:t>
                      </a:r>
                    </a:p>
                  </a:txBody>
                  <a:tcPr marL="85470" marR="85470" marT="42735" marB="4273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0.000018</a:t>
                      </a:r>
                    </a:p>
                  </a:txBody>
                  <a:tcPr marL="85470" marR="85470" marT="42735" marB="4273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1.0286</a:t>
                      </a:r>
                    </a:p>
                  </a:txBody>
                  <a:tcPr marL="85470" marR="85470" marT="42735" marB="42735" anchor="ctr"/>
                </a:tc>
                <a:extLst>
                  <a:ext uri="{0D108BD9-81ED-4DB2-BD59-A6C34878D82A}">
                    <a16:rowId xmlns:a16="http://schemas.microsoft.com/office/drawing/2014/main" val="1078751514"/>
                  </a:ext>
                </a:extLst>
              </a:tr>
              <a:tr h="26353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1400" b="1" dirty="0">
                          <a:solidFill>
                            <a:srgbClr val="11309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Регрессия</a:t>
                      </a:r>
                    </a:p>
                  </a:txBody>
                  <a:tcPr marL="85470" marR="85470" marT="42735" marB="4273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1" dirty="0">
                          <a:solidFill>
                            <a:srgbClr val="11309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0.000089</a:t>
                      </a:r>
                    </a:p>
                  </a:txBody>
                  <a:tcPr marL="85470" marR="85470" marT="42735" marB="4273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1" dirty="0">
                          <a:solidFill>
                            <a:srgbClr val="11309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5.0857</a:t>
                      </a:r>
                    </a:p>
                  </a:txBody>
                  <a:tcPr marL="85470" marR="85470" marT="42735" marB="42735" anchor="ctr"/>
                </a:tc>
                <a:extLst>
                  <a:ext uri="{0D108BD9-81ED-4DB2-BD59-A6C34878D82A}">
                    <a16:rowId xmlns:a16="http://schemas.microsoft.com/office/drawing/2014/main" val="14772561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6711D79-6AE4-CEBF-7C21-CB7E238CFD99}"/>
              </a:ext>
            </a:extLst>
          </p:cNvPr>
          <p:cNvSpPr txBox="1"/>
          <p:nvPr/>
        </p:nvSpPr>
        <p:spPr>
          <a:xfrm>
            <a:off x="368550" y="3130369"/>
            <a:ext cx="41312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6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Самарская область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705DB4CE-C328-8B99-0C5E-96A34F810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054760"/>
              </p:ext>
            </p:extLst>
          </p:nvPr>
        </p:nvGraphicFramePr>
        <p:xfrm>
          <a:off x="4665997" y="986600"/>
          <a:ext cx="4103852" cy="19818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69265">
                  <a:extLst>
                    <a:ext uri="{9D8B030D-6E8A-4147-A177-3AD203B41FA5}">
                      <a16:colId xmlns:a16="http://schemas.microsoft.com/office/drawing/2014/main" val="3535043608"/>
                    </a:ext>
                  </a:extLst>
                </a:gridCol>
                <a:gridCol w="1456661">
                  <a:extLst>
                    <a:ext uri="{9D8B030D-6E8A-4147-A177-3AD203B41FA5}">
                      <a16:colId xmlns:a16="http://schemas.microsoft.com/office/drawing/2014/main" val="637553762"/>
                    </a:ext>
                  </a:extLst>
                </a:gridCol>
                <a:gridCol w="1477926">
                  <a:extLst>
                    <a:ext uri="{9D8B030D-6E8A-4147-A177-3AD203B41FA5}">
                      <a16:colId xmlns:a16="http://schemas.microsoft.com/office/drawing/2014/main" val="2425623919"/>
                    </a:ext>
                  </a:extLst>
                </a:gridCol>
              </a:tblGrid>
              <a:tr h="2849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70" marR="85470" marT="42735" marB="42735" anchor="ctr">
                    <a:solidFill>
                      <a:srgbClr val="1130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Стандартное отклонение</a:t>
                      </a:r>
                    </a:p>
                  </a:txBody>
                  <a:tcPr marL="85470" marR="85470" marT="42735" marB="42735" anchor="ctr">
                    <a:solidFill>
                      <a:srgbClr val="1130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Коэффициент вариации</a:t>
                      </a:r>
                    </a:p>
                  </a:txBody>
                  <a:tcPr marL="85470" marR="85470" marT="42735" marB="42735" anchor="ctr">
                    <a:solidFill>
                      <a:srgbClr val="1130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07593"/>
                  </a:ext>
                </a:extLst>
              </a:tr>
              <a:tr h="26353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Равномерное</a:t>
                      </a:r>
                    </a:p>
                  </a:txBody>
                  <a:tcPr marL="85470" marR="85470" marT="42735" marB="4273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0.000000</a:t>
                      </a:r>
                    </a:p>
                  </a:txBody>
                  <a:tcPr marL="85470" marR="85470" marT="42735" marB="4273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</a:p>
                  </a:txBody>
                  <a:tcPr marL="85470" marR="85470" marT="42735" marB="42735" anchor="ctr"/>
                </a:tc>
                <a:extLst>
                  <a:ext uri="{0D108BD9-81ED-4DB2-BD59-A6C34878D82A}">
                    <a16:rowId xmlns:a16="http://schemas.microsoft.com/office/drawing/2014/main" val="324263697"/>
                  </a:ext>
                </a:extLst>
              </a:tr>
              <a:tr h="26353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Частотный анализ</a:t>
                      </a:r>
                    </a:p>
                  </a:txBody>
                  <a:tcPr marL="85470" marR="85470" marT="42735" marB="42735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0.000197</a:t>
                      </a:r>
                    </a:p>
                  </a:txBody>
                  <a:tcPr marL="85470" marR="85470" marT="42735" marB="42735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7.5800</a:t>
                      </a:r>
                    </a:p>
                  </a:txBody>
                  <a:tcPr marL="85470" marR="85470" marT="42735" marB="42735" anchor="ctr"/>
                </a:tc>
                <a:extLst>
                  <a:ext uri="{0D108BD9-81ED-4DB2-BD59-A6C34878D82A}">
                    <a16:rowId xmlns:a16="http://schemas.microsoft.com/office/drawing/2014/main" val="3628892899"/>
                  </a:ext>
                </a:extLst>
              </a:tr>
              <a:tr h="26353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Соседи</a:t>
                      </a:r>
                    </a:p>
                  </a:txBody>
                  <a:tcPr marL="85470" marR="85470" marT="42735" marB="42735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0.000141</a:t>
                      </a:r>
                    </a:p>
                  </a:txBody>
                  <a:tcPr marL="85470" marR="85470" marT="42735" marB="42735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5.4269</a:t>
                      </a:r>
                    </a:p>
                  </a:txBody>
                  <a:tcPr marL="85470" marR="85470" marT="42735" marB="42735" anchor="ctr"/>
                </a:tc>
                <a:extLst>
                  <a:ext uri="{0D108BD9-81ED-4DB2-BD59-A6C34878D82A}">
                    <a16:rowId xmlns:a16="http://schemas.microsoft.com/office/drawing/2014/main" val="1220498804"/>
                  </a:ext>
                </a:extLst>
              </a:tr>
              <a:tr h="26353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1400" b="1" dirty="0">
                          <a:solidFill>
                            <a:srgbClr val="11309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Регрессия</a:t>
                      </a:r>
                    </a:p>
                  </a:txBody>
                  <a:tcPr marL="85470" marR="85470" marT="42735" marB="42735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1" i="0" u="none" strike="noStrike" cap="none" dirty="0">
                          <a:solidFill>
                            <a:srgbClr val="11309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0.000417</a:t>
                      </a:r>
                    </a:p>
                  </a:txBody>
                  <a:tcPr marL="85470" marR="85470" marT="42735" marB="42735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1" i="0" u="none" strike="noStrike" cap="none" dirty="0">
                          <a:solidFill>
                            <a:srgbClr val="113094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16.0385</a:t>
                      </a:r>
                    </a:p>
                  </a:txBody>
                  <a:tcPr marL="85470" marR="85470" marT="42735" marB="42735" anchor="ctr"/>
                </a:tc>
                <a:extLst>
                  <a:ext uri="{0D108BD9-81ED-4DB2-BD59-A6C34878D82A}">
                    <a16:rowId xmlns:a16="http://schemas.microsoft.com/office/drawing/2014/main" val="253057577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B977DF2-7926-1410-C500-4F5668093B47}"/>
              </a:ext>
            </a:extLst>
          </p:cNvPr>
          <p:cNvSpPr txBox="1"/>
          <p:nvPr/>
        </p:nvSpPr>
        <p:spPr>
          <a:xfrm>
            <a:off x="4652314" y="3130369"/>
            <a:ext cx="41312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6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Еврейская автономная область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E24AF-9126-AFB7-0AB4-E3BB47359783}"/>
              </a:ext>
            </a:extLst>
          </p:cNvPr>
          <p:cNvSpPr txBox="1"/>
          <p:nvPr/>
        </p:nvSpPr>
        <p:spPr>
          <a:xfrm>
            <a:off x="368551" y="3623676"/>
            <a:ext cx="84012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показывает наилучшую дифференциацию в обоих регионах</a:t>
            </a: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Еврейская АО: коэффициент вариации = 16.04 </a:t>
            </a: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Самарская область: коэффициент вариации = 5.09</a:t>
            </a:r>
          </a:p>
        </p:txBody>
      </p:sp>
    </p:spTree>
    <p:extLst>
      <p:ext uri="{BB962C8B-B14F-4D97-AF65-F5344CB8AC3E}">
        <p14:creationId xmlns:p14="http://schemas.microsoft.com/office/powerpoint/2010/main" val="3968593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D7EA485A-D576-1B8A-400E-C960E7B8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d0e75760e_0_0">
            <a:extLst>
              <a:ext uri="{FF2B5EF4-FFF2-40B4-BE49-F238E27FC236}">
                <a16:creationId xmlns:a16="http://schemas.microsoft.com/office/drawing/2014/main" id="{68A0E895-087D-0403-D57A-69232AE83F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d0e75760e_0_0">
            <a:extLst>
              <a:ext uri="{FF2B5EF4-FFF2-40B4-BE49-F238E27FC236}">
                <a16:creationId xmlns:a16="http://schemas.microsoft.com/office/drawing/2014/main" id="{C3242FDB-6353-C467-2B99-7B632E47BC55}"/>
              </a:ext>
            </a:extLst>
          </p:cNvPr>
          <p:cNvSpPr txBox="1"/>
          <p:nvPr/>
        </p:nvSpPr>
        <p:spPr>
          <a:xfrm>
            <a:off x="368550" y="246500"/>
            <a:ext cx="8247900" cy="7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123194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Практическое применение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63798-C5D6-0895-0E91-6C50CD0D656F}"/>
              </a:ext>
            </a:extLst>
          </p:cNvPr>
          <p:cNvSpPr txBox="1"/>
          <p:nvPr/>
        </p:nvSpPr>
        <p:spPr>
          <a:xfrm>
            <a:off x="8219768" y="4732536"/>
            <a:ext cx="779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7F996D-C313-1322-CF14-83D3393EAABA}"/>
              </a:ext>
            </a:extLst>
          </p:cNvPr>
          <p:cNvSpPr txBox="1"/>
          <p:nvPr/>
        </p:nvSpPr>
        <p:spPr>
          <a:xfrm>
            <a:off x="383089" y="986600"/>
            <a:ext cx="82478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Реализованный анализ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Самарская область и Еврейская автономная область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Показатель: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пенсионеров всего (параметр №16, в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можно поменять)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 пространственное распределение с выделением центров концентрации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B926BF-2733-98F7-5FE1-3429E2CF7D4F}"/>
              </a:ext>
            </a:extLst>
          </p:cNvPr>
          <p:cNvSpPr txBox="1"/>
          <p:nvPr/>
        </p:nvSpPr>
        <p:spPr>
          <a:xfrm>
            <a:off x="383089" y="2576385"/>
            <a:ext cx="35858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Гибкость модели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переучивается под каждый тип показателя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анализировать любой региональный показатель из датасета заказчика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19FE10-6670-0DD6-B4CD-A34262AD7927}"/>
              </a:ext>
            </a:extLst>
          </p:cNvPr>
          <p:cNvSpPr txBox="1"/>
          <p:nvPr/>
        </p:nvSpPr>
        <p:spPr>
          <a:xfrm>
            <a:off x="4212230" y="2576385"/>
            <a:ext cx="4502888" cy="1846659"/>
          </a:xfrm>
          <a:prstGeom prst="rect">
            <a:avLst/>
          </a:prstGeom>
          <a:solidFill>
            <a:srgbClr val="113094"/>
          </a:solidFill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для нового показателя</a:t>
            </a:r>
          </a:p>
          <a:p>
            <a:pPr marL="342900" indent="-342900" algn="just">
              <a:buClr>
                <a:schemeClr val="bg1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Model_calc.ipynb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изменить номер показателя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ячейка 3)</a:t>
            </a:r>
          </a:p>
          <a:p>
            <a:pPr marL="342900" indent="-342900" algn="just">
              <a:buClr>
                <a:schemeClr val="bg1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Запустить обучение модели</a:t>
            </a:r>
          </a:p>
          <a:p>
            <a:pPr marL="342900" indent="-342900" algn="just">
              <a:buClr>
                <a:schemeClr val="bg1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Запустить основной расчет в Project_Practicum_2026.ipynb</a:t>
            </a:r>
          </a:p>
          <a:p>
            <a:pPr marL="342900" indent="-342900" algn="just">
              <a:buClr>
                <a:schemeClr val="bg1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Получить пространственное распределение для нового показателя</a:t>
            </a:r>
          </a:p>
        </p:txBody>
      </p:sp>
    </p:spTree>
    <p:extLst>
      <p:ext uri="{BB962C8B-B14F-4D97-AF65-F5344CB8AC3E}">
        <p14:creationId xmlns:p14="http://schemas.microsoft.com/office/powerpoint/2010/main" val="2398220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155E3D4E-382B-CEA2-5869-444DA8455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d0e75760e_0_0">
            <a:extLst>
              <a:ext uri="{FF2B5EF4-FFF2-40B4-BE49-F238E27FC236}">
                <a16:creationId xmlns:a16="http://schemas.microsoft.com/office/drawing/2014/main" id="{E13C50CD-FC64-80E7-61A1-E3CE65C24D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d0e75760e_0_0">
            <a:extLst>
              <a:ext uri="{FF2B5EF4-FFF2-40B4-BE49-F238E27FC236}">
                <a16:creationId xmlns:a16="http://schemas.microsoft.com/office/drawing/2014/main" id="{DC1E7229-C6D2-AD5F-F06F-183370393D91}"/>
              </a:ext>
            </a:extLst>
          </p:cNvPr>
          <p:cNvSpPr txBox="1"/>
          <p:nvPr/>
        </p:nvSpPr>
        <p:spPr>
          <a:xfrm>
            <a:off x="368550" y="246500"/>
            <a:ext cx="8247900" cy="7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123194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Ограничения и допущения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EF14A3-D38D-8D6A-41F5-87461F3E6C79}"/>
              </a:ext>
            </a:extLst>
          </p:cNvPr>
          <p:cNvSpPr txBox="1"/>
          <p:nvPr/>
        </p:nvSpPr>
        <p:spPr>
          <a:xfrm>
            <a:off x="8219768" y="4732536"/>
            <a:ext cx="779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9797B-8FF0-9483-63FB-27D55CFA2185}"/>
              </a:ext>
            </a:extLst>
          </p:cNvPr>
          <p:cNvSpPr txBox="1"/>
          <p:nvPr/>
        </p:nvSpPr>
        <p:spPr>
          <a:xfrm>
            <a:off x="375819" y="799760"/>
            <a:ext cx="824789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Технические ограничения: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Неполнота данных 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OSM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сельской местности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Недостаточность данных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Фиксированный набор 50 признаков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Ограниченный набор регионов для обучения (85)</a:t>
            </a: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Методологические допущения: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u="sng" dirty="0">
                <a:solidFill>
                  <a:srgbClr val="1130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Предположение о сохранении пространственных закономерностей на разных масштабах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типы объектов значимы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зависимость между признаками и показателем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временной динамики</a:t>
            </a: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Потенциальные искажения: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Заброшенные объекты могут искажать картину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Новые объекты не учтены</a:t>
            </a:r>
          </a:p>
        </p:txBody>
      </p:sp>
    </p:spTree>
    <p:extLst>
      <p:ext uri="{BB962C8B-B14F-4D97-AF65-F5344CB8AC3E}">
        <p14:creationId xmlns:p14="http://schemas.microsoft.com/office/powerpoint/2010/main" val="2422462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A61889BC-45CF-1075-A580-D11E30FF7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d0e75760e_0_0">
            <a:extLst>
              <a:ext uri="{FF2B5EF4-FFF2-40B4-BE49-F238E27FC236}">
                <a16:creationId xmlns:a16="http://schemas.microsoft.com/office/drawing/2014/main" id="{A92CE189-0065-D0AA-79CC-10C9BA9A8D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d0e75760e_0_0">
            <a:extLst>
              <a:ext uri="{FF2B5EF4-FFF2-40B4-BE49-F238E27FC236}">
                <a16:creationId xmlns:a16="http://schemas.microsoft.com/office/drawing/2014/main" id="{A7B8366A-53F1-68EE-689F-CAEA77EC6197}"/>
              </a:ext>
            </a:extLst>
          </p:cNvPr>
          <p:cNvSpPr txBox="1"/>
          <p:nvPr/>
        </p:nvSpPr>
        <p:spPr>
          <a:xfrm>
            <a:off x="368550" y="246500"/>
            <a:ext cx="8247900" cy="7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123194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Направления развития и валидация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EC2F68-DC54-5DF1-D8F2-F76E2B6A6D9F}"/>
              </a:ext>
            </a:extLst>
          </p:cNvPr>
          <p:cNvSpPr txBox="1"/>
          <p:nvPr/>
        </p:nvSpPr>
        <p:spPr>
          <a:xfrm>
            <a:off x="8219768" y="4732536"/>
            <a:ext cx="779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E31FD-5184-AEA1-4D3F-1C9A82DB32F8}"/>
              </a:ext>
            </a:extLst>
          </p:cNvPr>
          <p:cNvSpPr txBox="1"/>
          <p:nvPr/>
        </p:nvSpPr>
        <p:spPr>
          <a:xfrm>
            <a:off x="375819" y="799760"/>
            <a:ext cx="8247899" cy="3781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 модели: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 данные (ночная засветка, данные по муниципалитетам)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Другие алгоритмы (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Forest, Gradient Boosting)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признаков (этажность зданий, плотность застройки, типы дорог)</a:t>
            </a:r>
          </a:p>
          <a:p>
            <a:pPr algn="just">
              <a:lnSpc>
                <a:spcPct val="150000"/>
              </a:lnSpc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решений: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 муниципальными данными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Полевая проверка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Выезд в ключевые точки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Экспертная оценка</a:t>
            </a:r>
          </a:p>
        </p:txBody>
      </p:sp>
    </p:spTree>
    <p:extLst>
      <p:ext uri="{BB962C8B-B14F-4D97-AF65-F5344CB8AC3E}">
        <p14:creationId xmlns:p14="http://schemas.microsoft.com/office/powerpoint/2010/main" val="1899847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D58975E3-F3CB-8084-216B-8AA0D2FC8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d0e75760e_0_0">
            <a:extLst>
              <a:ext uri="{FF2B5EF4-FFF2-40B4-BE49-F238E27FC236}">
                <a16:creationId xmlns:a16="http://schemas.microsoft.com/office/drawing/2014/main" id="{5D0732CD-1960-4057-C32C-E5AAF5B043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d0e75760e_0_0">
            <a:extLst>
              <a:ext uri="{FF2B5EF4-FFF2-40B4-BE49-F238E27FC236}">
                <a16:creationId xmlns:a16="http://schemas.microsoft.com/office/drawing/2014/main" id="{E66DD249-57CA-1871-B551-AC2599110FE9}"/>
              </a:ext>
            </a:extLst>
          </p:cNvPr>
          <p:cNvSpPr txBox="1"/>
          <p:nvPr/>
        </p:nvSpPr>
        <p:spPr>
          <a:xfrm>
            <a:off x="368550" y="246500"/>
            <a:ext cx="8247900" cy="7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123194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Выводы и ценность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6F7598-5C68-D251-927E-CE00DAC5BBB7}"/>
              </a:ext>
            </a:extLst>
          </p:cNvPr>
          <p:cNvSpPr txBox="1"/>
          <p:nvPr/>
        </p:nvSpPr>
        <p:spPr>
          <a:xfrm>
            <a:off x="8219768" y="4732536"/>
            <a:ext cx="779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433F8E-CCB6-5784-EFDF-1F36212804E8}"/>
              </a:ext>
            </a:extLst>
          </p:cNvPr>
          <p:cNvSpPr txBox="1"/>
          <p:nvPr/>
        </p:nvSpPr>
        <p:spPr>
          <a:xfrm>
            <a:off x="375819" y="986600"/>
            <a:ext cx="8247899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воспроизводимый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метода распределения с сравнением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Регрессионная модель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Качественная визуализация результатов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 для территориального анализа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Основа для аналитической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2796778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488" y="4491378"/>
            <a:ext cx="847909" cy="415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 rotWithShape="1">
          <a:blip r:embed="rId4">
            <a:alphaModFix/>
          </a:blip>
          <a:srcRect r="47182" b="36008"/>
          <a:stretch/>
        </p:blipFill>
        <p:spPr>
          <a:xfrm>
            <a:off x="4816900" y="266775"/>
            <a:ext cx="4183099" cy="4787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315779" y="380733"/>
            <a:ext cx="7347300" cy="11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lang="ru" sz="57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</a:t>
            </a:r>
            <a:endParaRPr sz="57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lang="ru" sz="57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за внимание!</a:t>
            </a:r>
            <a:endParaRPr sz="57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69;p2">
            <a:extLst>
              <a:ext uri="{FF2B5EF4-FFF2-40B4-BE49-F238E27FC236}">
                <a16:creationId xmlns:a16="http://schemas.microsoft.com/office/drawing/2014/main" id="{2F576CD1-1AE1-F7C0-979E-653E1A8CCDD0}"/>
              </a:ext>
            </a:extLst>
          </p:cNvPr>
          <p:cNvSpPr txBox="1"/>
          <p:nvPr/>
        </p:nvSpPr>
        <p:spPr>
          <a:xfrm>
            <a:off x="382323" y="3318457"/>
            <a:ext cx="7347300" cy="57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Проектный практикум 2026 г.</a:t>
            </a:r>
            <a:endParaRPr sz="24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3" name="Google Shape;66;p2">
            <a:extLst>
              <a:ext uri="{FF2B5EF4-FFF2-40B4-BE49-F238E27FC236}">
                <a16:creationId xmlns:a16="http://schemas.microsoft.com/office/drawing/2014/main" id="{87F3E71D-8DD6-C34F-EB3C-CFE80406932E}"/>
              </a:ext>
            </a:extLst>
          </p:cNvPr>
          <p:cNvSpPr txBox="1"/>
          <p:nvPr/>
        </p:nvSpPr>
        <p:spPr>
          <a:xfrm>
            <a:off x="382323" y="3892513"/>
            <a:ext cx="7347300" cy="57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Выполнил</a:t>
            </a:r>
            <a:r>
              <a:rPr lang="ru-RU" sz="16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и</a:t>
            </a:r>
            <a:r>
              <a:rPr lang="ru" sz="16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: </a:t>
            </a:r>
            <a:r>
              <a:rPr lang="ru-RU" sz="16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Валова Екатерина, Игонин Андрей</a:t>
            </a:r>
            <a:endParaRPr sz="16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B92E9-686E-6CA8-86DD-3518DB2B3317}"/>
              </a:ext>
            </a:extLst>
          </p:cNvPr>
          <p:cNvSpPr txBox="1"/>
          <p:nvPr/>
        </p:nvSpPr>
        <p:spPr>
          <a:xfrm>
            <a:off x="382323" y="2648323"/>
            <a:ext cx="5765942" cy="635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15000"/>
              </a:lnSpc>
              <a:buSzPts val="1600"/>
              <a:buNone/>
              <a:defRPr sz="160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defRPr>
            </a:lvl1pPr>
          </a:lstStyle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github.com</a:t>
            </a:r>
            <a:r>
              <a:rPr lang="ru-RU" dirty="0"/>
              <a:t>/</a:t>
            </a:r>
            <a:r>
              <a:rPr lang="ru-RU" dirty="0" err="1"/>
              <a:t>katePPkate</a:t>
            </a:r>
            <a:r>
              <a:rPr lang="ru-RU" dirty="0"/>
              <a:t>/Project_Practicum_2026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690</Words>
  <Application>Microsoft Macintosh PowerPoint</Application>
  <PresentationFormat>Произвольный</PresentationFormat>
  <Paragraphs>177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Wingdings</vt:lpstr>
      <vt:lpstr>Arial</vt:lpstr>
      <vt:lpstr>Times New Roman</vt:lpstr>
      <vt:lpstr>Montserrat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Igonin</dc:creator>
  <cp:lastModifiedBy>a13055</cp:lastModifiedBy>
  <cp:revision>11</cp:revision>
  <dcterms:modified xsi:type="dcterms:W3CDTF">2026-05-24T23:42:37Z</dcterms:modified>
</cp:coreProperties>
</file>